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7F10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32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FDE68A"/>
                </a:solidFill>
                <a:latin typeface="微软雅黑"/>
              </a:rPr>
              <a:t>深圳老板电器 · 18L燃热样板打造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103327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200" b="1">
                <a:solidFill>
                  <a:srgbClr val="FFFFFF"/>
                </a:solidFill>
                <a:latin typeface="微软雅黑"/>
              </a:rPr>
              <a:t>销售数据复盘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91840"/>
            <a:ext cx="10332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0">
                <a:solidFill>
                  <a:srgbClr val="FECACA"/>
                </a:solidFill>
                <a:latin typeface="微软雅黑"/>
              </a:rPr>
              <a:t>总阶段（9/3-9/13） ＆ 二阶段（9/11-9/13）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4069080"/>
            <a:ext cx="2926080" cy="54864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43484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FDE68A"/>
                </a:solidFill>
                <a:latin typeface="微软雅黑"/>
              </a:rPr>
              <a:t>周一例会专用 ｜ 2026-09-14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943600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FECACA"/>
                </a:solidFill>
                <a:latin typeface="微软雅黑"/>
              </a:rPr>
              <a:t>数据源：《01数据达成表》9/13回传 ｜ 口径：仅销售数据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5953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FFFFFF"/>
                </a:solidFill>
                <a:latin typeface="微软雅黑"/>
              </a:rPr>
              <a:t>一、总阶段销售数据（9/3-9/13 · 11天）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219456"/>
            <a:ext cx="25603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0">
                <a:solidFill>
                  <a:srgbClr val="FDE68A"/>
                </a:solidFill>
                <a:latin typeface="微软雅黑"/>
              </a:rPr>
              <a:t>全阶段累计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234440"/>
          <a:ext cx="1127455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5892"/>
                <a:gridCol w="3833347"/>
                <a:gridCol w="4735311"/>
              </a:tblGrid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指标</a:t>
                      </a:r>
                    </a:p>
                  </a:txBody>
                  <a:tcPr marL="45720" marR="45720" marT="9144" marB="9144"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数值</a:t>
                      </a:r>
                    </a:p>
                  </a:txBody>
                  <a:tcPr marL="45720" marR="45720" marT="9144" marB="9144"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说明</a:t>
                      </a:r>
                    </a:p>
                  </a:txBody>
                  <a:tcPr marL="45720" marR="45720" marT="9144" marB="9144" anchor="ctr">
                    <a:solidFill>
                      <a:srgbClr val="B91C1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E293B"/>
                          </a:solidFill>
                          <a:latin typeface="微软雅黑"/>
                        </a:rPr>
                        <a:t>燃热累计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113 台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日均 10.3 台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5803D"/>
                          </a:solidFill>
                          <a:latin typeface="微软雅黑"/>
                        </a:rPr>
                        <a:t>18L及以上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5803D"/>
                          </a:solidFill>
                          <a:latin typeface="微软雅黑"/>
                        </a:rPr>
                        <a:t>35 台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5803D"/>
                          </a:solidFill>
                          <a:latin typeface="微软雅黑"/>
                        </a:rPr>
                        <a:t>18L占比 31.0%（首破30%）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E293B"/>
                          </a:solidFill>
                          <a:latin typeface="微软雅黑"/>
                        </a:rPr>
                        <a:t>单日最高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9/13 燃热24台 / 18L11台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全阶段最强单日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E293B"/>
                          </a:solidFill>
                          <a:latin typeface="微软雅黑"/>
                        </a:rPr>
                        <a:t>18L占比走势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24.2% → 40.4%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一阶段 → 二阶段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4206240"/>
            <a:ext cx="11274552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64748B"/>
                </a:solidFill>
                <a:latin typeface="微软雅黑"/>
              </a:rPr>
              <a:t>门店排名（累计）</a:t>
            </a:r>
          </a:p>
          <a:p>
            <a:pPr algn="l">
              <a:lnSpc>
                <a:spcPct val="135000"/>
              </a:lnSpc>
            </a:pPr>
            <a:r>
              <a:rPr sz="1300" b="0">
                <a:solidFill>
                  <a:srgbClr val="64748B"/>
                </a:solidFill>
                <a:latin typeface="微软雅黑"/>
              </a:rPr>
              <a:t>· 18L：欧洲城香江家居5 ｜ 万众城4 ｜ 宝安华美居4 ｜ 南山京东3 ｜ 胜安居/群星京东/福田山姆/名雕装饰/莫川·领航/深港美居 各2</a:t>
            </a:r>
          </a:p>
          <a:p>
            <a:pPr algn="l">
              <a:lnSpc>
                <a:spcPct val="135000"/>
              </a:lnSpc>
            </a:pPr>
            <a:r>
              <a:rPr sz="1300" b="0">
                <a:solidFill>
                  <a:srgbClr val="64748B"/>
                </a:solidFill>
                <a:latin typeface="微软雅黑"/>
              </a:rPr>
              <a:t>· 燃热：南山京东11 ｜ 福田山姆5 ｜ 欧洲城香江家居5 ｜ 群星京东/宝安华美居/南山国安居 各4</a:t>
            </a:r>
          </a:p>
          <a:p>
            <a:pPr algn="l">
              <a:lnSpc>
                <a:spcPct val="135000"/>
              </a:lnSpc>
            </a:pPr>
            <a:r>
              <a:rPr sz="1300" b="0">
                <a:solidFill>
                  <a:srgbClr val="64748B"/>
                </a:solidFill>
                <a:latin typeface="微软雅黑"/>
              </a:rPr>
              <a:t>个人排名（累计）</a:t>
            </a:r>
          </a:p>
          <a:p>
            <a:pPr algn="l">
              <a:lnSpc>
                <a:spcPct val="135000"/>
              </a:lnSpc>
            </a:pPr>
            <a:r>
              <a:rPr sz="1300" b="0">
                <a:solidFill>
                  <a:srgbClr val="64748B"/>
                </a:solidFill>
                <a:latin typeface="微软雅黑"/>
              </a:rPr>
              <a:t>· 18L：吴恋3 ｜ 张琼纯/黄炳茂/梁红生/郑美兰/鄢金葵 各2　· 燃热：张琼纯6 ｜ 黄楚玲5 ｜ 廖建祥/黄炳茂/梁红生/郑美兰 各4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5953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FFFFFF"/>
                </a:solidFill>
                <a:latin typeface="微软雅黑"/>
              </a:rPr>
              <a:t>二、逐日走势（9/3-9/13）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219456"/>
            <a:ext cx="25603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0">
                <a:solidFill>
                  <a:srgbClr val="FDE68A"/>
                </a:solidFill>
                <a:latin typeface="微软雅黑"/>
              </a:rPr>
              <a:t>11天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74548" cy="39684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8437"/>
                <a:gridCol w="1240200"/>
                <a:gridCol w="1240200"/>
                <a:gridCol w="1578437"/>
                <a:gridCol w="1578437"/>
                <a:gridCol w="1240200"/>
                <a:gridCol w="1240200"/>
                <a:gridCol w="1578437"/>
              </a:tblGrid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日期</a:t>
                      </a:r>
                    </a:p>
                  </a:txBody>
                  <a:tcPr marL="45720" marR="45720" marT="9144" marB="9144"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燃热</a:t>
                      </a:r>
                    </a:p>
                  </a:txBody>
                  <a:tcPr marL="45720" marR="45720" marT="9144" marB="9144"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18L</a:t>
                      </a:r>
                    </a:p>
                  </a:txBody>
                  <a:tcPr marL="45720" marR="45720" marT="9144" marB="9144"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18L占比</a:t>
                      </a:r>
                    </a:p>
                  </a:txBody>
                  <a:tcPr marL="45720" marR="45720" marT="9144" marB="9144"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日期</a:t>
                      </a:r>
                    </a:p>
                  </a:txBody>
                  <a:tcPr marL="45720" marR="45720" marT="9144" marB="9144"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燃热</a:t>
                      </a:r>
                    </a:p>
                  </a:txBody>
                  <a:tcPr marL="45720" marR="45720" marT="9144" marB="9144"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18L</a:t>
                      </a:r>
                    </a:p>
                  </a:txBody>
                  <a:tcPr marL="45720" marR="45720" marT="9144" marB="9144"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18L占比</a:t>
                      </a:r>
                    </a:p>
                  </a:txBody>
                  <a:tcPr marL="45720" marR="45720" marT="9144" marB="9144" anchor="ctr">
                    <a:solidFill>
                      <a:srgbClr val="B91C1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1E293B"/>
                          </a:solidFill>
                          <a:latin typeface="微软雅黑"/>
                        </a:rPr>
                        <a:t>09/03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E293B"/>
                          </a:solidFill>
                          <a:latin typeface="微软雅黑"/>
                        </a:rPr>
                        <a:t>6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E293B"/>
                          </a:solidFill>
                          <a:latin typeface="微软雅黑"/>
                        </a:rPr>
                        <a:t>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E293B"/>
                          </a:solidFill>
                          <a:latin typeface="微软雅黑"/>
                        </a:rPr>
                        <a:t>50.0%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E293B"/>
                          </a:solidFill>
                          <a:latin typeface="微软雅黑"/>
                        </a:rPr>
                        <a:t>09/09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E293B"/>
                          </a:solidFill>
                          <a:latin typeface="微软雅黑"/>
                        </a:rPr>
                        <a:t>4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E293B"/>
                          </a:solidFill>
                          <a:latin typeface="微软雅黑"/>
                        </a:rPr>
                        <a:t>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E293B"/>
                          </a:solidFill>
                          <a:latin typeface="微软雅黑"/>
                        </a:rPr>
                        <a:t>0%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1E293B"/>
                          </a:solidFill>
                          <a:latin typeface="微软雅黑"/>
                        </a:rPr>
                        <a:t>09/04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E293B"/>
                          </a:solidFill>
                          <a:latin typeface="微软雅黑"/>
                        </a:rPr>
                        <a:t>4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E293B"/>
                          </a:solidFill>
                          <a:latin typeface="微软雅黑"/>
                        </a:rPr>
                        <a:t>1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E293B"/>
                          </a:solidFill>
                          <a:latin typeface="微软雅黑"/>
                        </a:rPr>
                        <a:t>25.0%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E293B"/>
                          </a:solidFill>
                          <a:latin typeface="微软雅黑"/>
                        </a:rPr>
                        <a:t>09/10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E293B"/>
                          </a:solidFill>
                          <a:latin typeface="微软雅黑"/>
                        </a:rPr>
                        <a:t>4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E293B"/>
                          </a:solidFill>
                          <a:latin typeface="微软雅黑"/>
                        </a:rPr>
                        <a:t>0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E293B"/>
                          </a:solidFill>
                          <a:latin typeface="微软雅黑"/>
                        </a:rPr>
                        <a:t>0%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1E293B"/>
                          </a:solidFill>
                          <a:latin typeface="微软雅黑"/>
                        </a:rPr>
                        <a:t>09/05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E293B"/>
                          </a:solidFill>
                          <a:latin typeface="微软雅黑"/>
                        </a:rPr>
                        <a:t>24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E293B"/>
                          </a:solidFill>
                          <a:latin typeface="微软雅黑"/>
                        </a:rPr>
                        <a:t>4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E293B"/>
                          </a:solidFill>
                          <a:latin typeface="微软雅黑"/>
                        </a:rPr>
                        <a:t>16.7%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E293B"/>
                          </a:solidFill>
                          <a:latin typeface="微软雅黑"/>
                        </a:rPr>
                        <a:t>09/11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E293B"/>
                          </a:solidFill>
                          <a:latin typeface="微软雅黑"/>
                        </a:rPr>
                        <a:t>6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E293B"/>
                          </a:solidFill>
                          <a:latin typeface="微软雅黑"/>
                        </a:rPr>
                        <a:t>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E293B"/>
                          </a:solidFill>
                          <a:latin typeface="微软雅黑"/>
                        </a:rPr>
                        <a:t>16.7%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1E293B"/>
                          </a:solidFill>
                          <a:latin typeface="微软雅黑"/>
                        </a:rPr>
                        <a:t>09/06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E293B"/>
                          </a:solidFill>
                          <a:latin typeface="微软雅黑"/>
                        </a:rPr>
                        <a:t>16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E293B"/>
                          </a:solidFill>
                          <a:latin typeface="微软雅黑"/>
                        </a:rPr>
                        <a:t>4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E293B"/>
                          </a:solidFill>
                          <a:latin typeface="微软雅黑"/>
                        </a:rPr>
                        <a:t>25.0%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E293B"/>
                          </a:solidFill>
                          <a:latin typeface="微软雅黑"/>
                        </a:rPr>
                        <a:t>09/12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E293B"/>
                          </a:solidFill>
                          <a:latin typeface="微软雅黑"/>
                        </a:rPr>
                        <a:t>17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E293B"/>
                          </a:solidFill>
                          <a:latin typeface="微软雅黑"/>
                        </a:rPr>
                        <a:t>7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E293B"/>
                          </a:solidFill>
                          <a:latin typeface="微软雅黑"/>
                        </a:rPr>
                        <a:t>41.2%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1E293B"/>
                          </a:solidFill>
                          <a:latin typeface="微软雅黑"/>
                        </a:rPr>
                        <a:t>09/07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E293B"/>
                          </a:solidFill>
                          <a:latin typeface="微软雅黑"/>
                        </a:rPr>
                        <a:t>5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E293B"/>
                          </a:solidFill>
                          <a:latin typeface="微软雅黑"/>
                        </a:rPr>
                        <a:t>2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E293B"/>
                          </a:solidFill>
                          <a:latin typeface="微软雅黑"/>
                        </a:rPr>
                        <a:t>40.0%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E293B"/>
                          </a:solidFill>
                          <a:latin typeface="微软雅黑"/>
                        </a:rPr>
                        <a:t>09/13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E293B"/>
                          </a:solidFill>
                          <a:latin typeface="微软雅黑"/>
                        </a:rPr>
                        <a:t>24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E293B"/>
                          </a:solidFill>
                          <a:latin typeface="微软雅黑"/>
                        </a:rPr>
                        <a:t>11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E293B"/>
                          </a:solidFill>
                          <a:latin typeface="微软雅黑"/>
                        </a:rPr>
                        <a:t>45.8%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15803D"/>
                          </a:solidFill>
                          <a:latin typeface="微软雅黑"/>
                        </a:rPr>
                        <a:t>09/08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15803D"/>
                          </a:solidFill>
                          <a:latin typeface="微软雅黑"/>
                        </a:rPr>
                        <a:t>3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15803D"/>
                          </a:solidFill>
                          <a:latin typeface="微软雅黑"/>
                        </a:rPr>
                        <a:t>2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15803D"/>
                          </a:solidFill>
                          <a:latin typeface="微软雅黑"/>
                        </a:rPr>
                        <a:t>66.7%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15803D"/>
                          </a:solidFill>
                          <a:latin typeface="微软雅黑"/>
                        </a:rPr>
                        <a:t>合计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15803D"/>
                          </a:solidFill>
                          <a:latin typeface="微软雅黑"/>
                        </a:rPr>
                        <a:t>113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15803D"/>
                          </a:solidFill>
                          <a:latin typeface="微软雅黑"/>
                        </a:rPr>
                        <a:t>35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15803D"/>
                          </a:solidFill>
                          <a:latin typeface="微软雅黑"/>
                        </a:rPr>
                        <a:t>31.0%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120640"/>
            <a:ext cx="1127455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64748B"/>
                </a:solidFill>
                <a:latin typeface="微软雅黑"/>
              </a:rPr>
              <a:t>· 9/9、9/10连续两天18L零单（谷底）→ 9/11起连续三天回升：1 → 7 → 11台</a:t>
            </a:r>
          </a:p>
          <a:p>
            <a:pPr algn="l">
              <a:lnSpc>
                <a:spcPct val="135000"/>
              </a:lnSpc>
            </a:pPr>
            <a:r>
              <a:rPr sz="1400" b="0">
                <a:solidFill>
                  <a:srgbClr val="64748B"/>
                </a:solidFill>
                <a:latin typeface="微软雅黑"/>
              </a:rPr>
              <a:t>· 9/13 燃热24台、18L11台，双创新高，18L占比45.8%创全阶段次高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5953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FFFFFF"/>
                </a:solidFill>
                <a:latin typeface="微软雅黑"/>
              </a:rPr>
              <a:t>三、二阶段销售数据（9/11-9/13 · 3天）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219456"/>
            <a:ext cx="25603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0">
                <a:solidFill>
                  <a:srgbClr val="FDE68A"/>
                </a:solidFill>
                <a:latin typeface="微软雅黑"/>
              </a:rPr>
              <a:t>开战3天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234440"/>
          <a:ext cx="1127455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5892"/>
                <a:gridCol w="3833347"/>
                <a:gridCol w="4735311"/>
              </a:tblGrid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指标</a:t>
                      </a:r>
                    </a:p>
                  </a:txBody>
                  <a:tcPr marL="45720" marR="45720" marT="9144" marB="9144"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数值</a:t>
                      </a:r>
                    </a:p>
                  </a:txBody>
                  <a:tcPr marL="45720" marR="45720" marT="9144" marB="9144"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说明</a:t>
                      </a:r>
                    </a:p>
                  </a:txBody>
                  <a:tcPr marL="45720" marR="45720" marT="9144" marB="9144" anchor="ctr">
                    <a:solidFill>
                      <a:srgbClr val="B91C1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5803D"/>
                          </a:solidFill>
                          <a:latin typeface="微软雅黑"/>
                        </a:rPr>
                        <a:t>燃热销量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5803D"/>
                          </a:solidFill>
                          <a:latin typeface="微软雅黑"/>
                        </a:rPr>
                        <a:t>47 台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5803D"/>
                          </a:solidFill>
                          <a:latin typeface="微软雅黑"/>
                        </a:rPr>
                        <a:t>日均 15.7 台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5803D"/>
                          </a:solidFill>
                          <a:latin typeface="微软雅黑"/>
                        </a:rPr>
                        <a:t>18L及以上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5803D"/>
                          </a:solidFill>
                          <a:latin typeface="微软雅黑"/>
                        </a:rPr>
                        <a:t>19 台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5803D"/>
                          </a:solidFill>
                          <a:latin typeface="微软雅黑"/>
                        </a:rPr>
                        <a:t>18L占比 40.4%（日均6.3台）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E293B"/>
                          </a:solidFill>
                          <a:latin typeface="微软雅黑"/>
                        </a:rPr>
                        <a:t>9/13单日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燃热24 / 18L11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双双创新高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5803D"/>
                          </a:solidFill>
                          <a:latin typeface="微软雅黑"/>
                        </a:rPr>
                        <a:t>18L日均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5803D"/>
                          </a:solidFill>
                          <a:latin typeface="微软雅黑"/>
                        </a:rPr>
                        <a:t>2.0 → 6.3 台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5803D"/>
                          </a:solidFill>
                          <a:latin typeface="微软雅黑"/>
                        </a:rPr>
                        <a:t>较一阶段 +215%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4206240"/>
            <a:ext cx="11274552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64748B"/>
                </a:solidFill>
                <a:latin typeface="微软雅黑"/>
              </a:rPr>
              <a:t>门店排名（二阶段）</a:t>
            </a:r>
          </a:p>
          <a:p>
            <a:pPr algn="l">
              <a:lnSpc>
                <a:spcPct val="135000"/>
              </a:lnSpc>
            </a:pPr>
            <a:r>
              <a:rPr sz="1300" b="0">
                <a:solidFill>
                  <a:srgbClr val="64748B"/>
                </a:solidFill>
                <a:latin typeface="微软雅黑"/>
              </a:rPr>
              <a:t>· 18L：欧洲城香江家居3 ｜ 沙井华美居3 ｜ 龙华万众城2 ｜ 宝安华美居2 ｜ 深港美居2</a:t>
            </a:r>
          </a:p>
          <a:p>
            <a:pPr algn="l">
              <a:lnSpc>
                <a:spcPct val="135000"/>
              </a:lnSpc>
            </a:pPr>
            <a:r>
              <a:rPr sz="1300" b="0">
                <a:solidFill>
                  <a:srgbClr val="64748B"/>
                </a:solidFill>
                <a:latin typeface="微软雅黑"/>
              </a:rPr>
              <a:t>· 燃热：欧洲城香江家居5 ｜ 龙华万众城4 ｜ 都市壹家装4 ｜ 沙井华美居/宝安华美居/莫川装饰/福田山姆 各3</a:t>
            </a:r>
          </a:p>
          <a:p>
            <a:pPr algn="l">
              <a:lnSpc>
                <a:spcPct val="135000"/>
              </a:lnSpc>
            </a:pPr>
            <a:r>
              <a:rPr sz="1300" b="0">
                <a:solidFill>
                  <a:srgbClr val="64748B"/>
                </a:solidFill>
                <a:latin typeface="微软雅黑"/>
              </a:rPr>
              <a:t>个人排名（二阶段）：18L 吴恋3（梁红生/龙兴军/鄢金葵各2）｜ 燃热 张琼纯3、吴恋3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5953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FFFFFF"/>
                </a:solidFill>
                <a:latin typeface="微软雅黑"/>
              </a:rPr>
              <a:t>四、两阶段对比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219456"/>
            <a:ext cx="25603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0">
                <a:solidFill>
                  <a:srgbClr val="FDE68A"/>
                </a:solidFill>
                <a:latin typeface="微软雅黑"/>
              </a:rPr>
              <a:t>一阶段 vs 二阶段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7455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4910"/>
                <a:gridCol w="2705892"/>
                <a:gridCol w="2705892"/>
                <a:gridCol w="3607856"/>
              </a:tblGrid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指标</a:t>
                      </a:r>
                    </a:p>
                  </a:txBody>
                  <a:tcPr marL="45720" marR="45720" marT="9144" marB="9144"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一阶段 9/3-9/10（8天）</a:t>
                      </a:r>
                    </a:p>
                  </a:txBody>
                  <a:tcPr marL="45720" marR="45720" marT="9144" marB="9144"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二阶段 9/11-9/13（3天）</a:t>
                      </a:r>
                    </a:p>
                  </a:txBody>
                  <a:tcPr marL="45720" marR="45720" marT="9144" marB="9144"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变化</a:t>
                      </a:r>
                    </a:p>
                  </a:txBody>
                  <a:tcPr marL="45720" marR="45720" marT="9144" marB="9144" anchor="ctr">
                    <a:solidFill>
                      <a:srgbClr val="B91C1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5803D"/>
                          </a:solidFill>
                          <a:latin typeface="微软雅黑"/>
                        </a:rPr>
                        <a:t>燃热销量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5803D"/>
                          </a:solidFill>
                          <a:latin typeface="微软雅黑"/>
                        </a:rPr>
                        <a:t>66 台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5803D"/>
                          </a:solidFill>
                          <a:latin typeface="微软雅黑"/>
                        </a:rPr>
                        <a:t>47 台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5803D"/>
                          </a:solidFill>
                          <a:latin typeface="微软雅黑"/>
                        </a:rPr>
                        <a:t>日均 8.3 → 15.7 台（+90%）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5803D"/>
                          </a:solidFill>
                          <a:latin typeface="微软雅黑"/>
                        </a:rPr>
                        <a:t>18L销量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5803D"/>
                          </a:solidFill>
                          <a:latin typeface="微软雅黑"/>
                        </a:rPr>
                        <a:t>16 台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5803D"/>
                          </a:solidFill>
                          <a:latin typeface="微软雅黑"/>
                        </a:rPr>
                        <a:t>19 台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5803D"/>
                          </a:solidFill>
                          <a:latin typeface="微软雅黑"/>
                        </a:rPr>
                        <a:t>日均 2.0 → 6.3 台（+215%）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5803D"/>
                          </a:solidFill>
                          <a:latin typeface="微软雅黑"/>
                        </a:rPr>
                        <a:t>18L占比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5803D"/>
                          </a:solidFill>
                          <a:latin typeface="微软雅黑"/>
                        </a:rPr>
                        <a:t>24.2%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5803D"/>
                          </a:solidFill>
                          <a:latin typeface="微软雅黑"/>
                        </a:rPr>
                        <a:t>40.4%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5803D"/>
                          </a:solidFill>
                          <a:latin typeface="微软雅黑"/>
                        </a:rPr>
                        <a:t>+16.2pt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E293B"/>
                          </a:solidFill>
                          <a:latin typeface="微软雅黑"/>
                        </a:rPr>
                        <a:t>单日最高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9/5 燃热24台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9/13 燃热24/18L11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结构明显优化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4663440"/>
            <a:ext cx="11274552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1E293B"/>
                </a:solidFill>
                <a:latin typeface="微软雅黑"/>
              </a:rPr>
              <a:t>结论：</a:t>
            </a:r>
          </a:p>
          <a:p>
            <a:pPr algn="l">
              <a:lnSpc>
                <a:spcPct val="140000"/>
              </a:lnSpc>
            </a:pPr>
            <a:r>
              <a:rPr sz="1400" b="0">
                <a:solidFill>
                  <a:srgbClr val="1E293B"/>
                </a:solidFill>
                <a:latin typeface="微软雅黑"/>
              </a:rPr>
              <a:t>1. 结构质变——18L占比24.2% → 40.4%，日均18L 2.0 → 6.3台，升数引导打法跑通</a:t>
            </a:r>
          </a:p>
          <a:p>
            <a:pPr algn="l">
              <a:lnSpc>
                <a:spcPct val="140000"/>
              </a:lnSpc>
            </a:pPr>
            <a:r>
              <a:rPr sz="1400" b="0">
                <a:solidFill>
                  <a:srgbClr val="1E293B"/>
                </a:solidFill>
                <a:latin typeface="微软雅黑"/>
              </a:rPr>
              <a:t>2. 基本盘同步放大——燃热日均8.3 → 15.7台（+90%），不是单纯结构转移</a:t>
            </a:r>
          </a:p>
          <a:p>
            <a:pPr algn="l">
              <a:lnSpc>
                <a:spcPct val="140000"/>
              </a:lnSpc>
            </a:pPr>
            <a:r>
              <a:rPr sz="1400" b="0">
                <a:solidFill>
                  <a:srgbClr val="1E293B"/>
                </a:solidFill>
                <a:latin typeface="微软雅黑"/>
              </a:rPr>
              <a:t>3. 9/13冲量组合有效（燃热24/18L11），值得固化到后续节点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5953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FFFFFF"/>
                </a:solidFill>
                <a:latin typeface="微软雅黑"/>
              </a:rPr>
              <a:t>五、里程碑进度 &amp; 收官预测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219456"/>
            <a:ext cx="25603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0">
                <a:solidFill>
                  <a:srgbClr val="FDE68A"/>
                </a:solidFill>
                <a:latin typeface="微软雅黑"/>
              </a:rPr>
              <a:t>9/13 · 9/30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0147095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1383"/>
                <a:gridCol w="1803928"/>
                <a:gridCol w="1803928"/>
                <a:gridCol w="1803928"/>
                <a:gridCol w="1803928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里程碑</a:t>
                      </a:r>
                    </a:p>
                  </a:txBody>
                  <a:tcPr marL="45720" marR="45720" marT="9144" marB="9144"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目标</a:t>
                      </a:r>
                    </a:p>
                  </a:txBody>
                  <a:tcPr marL="45720" marR="45720" marT="9144" marB="9144"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实际</a:t>
                      </a:r>
                    </a:p>
                  </a:txBody>
                  <a:tcPr marL="45720" marR="45720" marT="9144" marB="9144"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完成率</a:t>
                      </a:r>
                    </a:p>
                  </a:txBody>
                  <a:tcPr marL="45720" marR="45720" marT="9144" marB="9144"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缺口</a:t>
                      </a:r>
                    </a:p>
                  </a:txBody>
                  <a:tcPr marL="45720" marR="45720" marT="9144" marB="9144" anchor="ctr">
                    <a:solidFill>
                      <a:srgbClr val="B91C1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B45309"/>
                          </a:solidFill>
                          <a:latin typeface="微软雅黑"/>
                        </a:rPr>
                        <a:t>9/13 阶段里程碑</a:t>
                      </a:r>
                    </a:p>
                  </a:txBody>
                  <a:tcPr marL="45720" marR="45720" marT="9144" marB="9144" anchor="ctr"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B45309"/>
                          </a:solidFill>
                          <a:latin typeface="微软雅黑"/>
                        </a:rPr>
                        <a:t>45 台</a:t>
                      </a:r>
                    </a:p>
                  </a:txBody>
                  <a:tcPr marL="45720" marR="45720" marT="9144" marB="9144" anchor="ctr"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B45309"/>
                          </a:solidFill>
                          <a:latin typeface="微软雅黑"/>
                        </a:rPr>
                        <a:t>35 台</a:t>
                      </a:r>
                    </a:p>
                  </a:txBody>
                  <a:tcPr marL="45720" marR="45720" marT="9144" marB="9144" anchor="ctr"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B45309"/>
                          </a:solidFill>
                          <a:latin typeface="微软雅黑"/>
                        </a:rPr>
                        <a:t>77.8%</a:t>
                      </a:r>
                    </a:p>
                  </a:txBody>
                  <a:tcPr marL="45720" marR="45720" marT="9144" marB="9144" anchor="ctr"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B45309"/>
                          </a:solidFill>
                          <a:latin typeface="微软雅黑"/>
                        </a:rPr>
                        <a:t>-10 台</a:t>
                      </a:r>
                    </a:p>
                  </a:txBody>
                  <a:tcPr marL="45720" marR="45720" marT="9144" marB="9144" anchor="ctr">
                    <a:solidFill>
                      <a:srgbClr val="FFFBE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B91C1C"/>
                          </a:solidFill>
                          <a:latin typeface="微软雅黑"/>
                        </a:rPr>
                        <a:t>9/30 项目收官</a:t>
                      </a:r>
                    </a:p>
                  </a:txBody>
                  <a:tcPr marL="45720" marR="45720" marT="9144" marB="9144" anchor="ctr"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B91C1C"/>
                          </a:solidFill>
                          <a:latin typeface="微软雅黑"/>
                        </a:rPr>
                        <a:t>100 台</a:t>
                      </a:r>
                    </a:p>
                  </a:txBody>
                  <a:tcPr marL="45720" marR="45720" marT="9144" marB="9144" anchor="ctr"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B91C1C"/>
                          </a:solidFill>
                          <a:latin typeface="微软雅黑"/>
                        </a:rPr>
                        <a:t>35 台</a:t>
                      </a:r>
                    </a:p>
                  </a:txBody>
                  <a:tcPr marL="45720" marR="45720" marT="9144" marB="9144" anchor="ctr"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B91C1C"/>
                          </a:solidFill>
                          <a:latin typeface="微软雅黑"/>
                        </a:rPr>
                        <a:t>35.0%</a:t>
                      </a:r>
                    </a:p>
                  </a:txBody>
                  <a:tcPr marL="45720" marR="45720" marT="9144" marB="9144" anchor="ctr"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B91C1C"/>
                          </a:solidFill>
                          <a:latin typeface="微软雅黑"/>
                        </a:rPr>
                        <a:t>-65 台</a:t>
                      </a:r>
                    </a:p>
                  </a:txBody>
                  <a:tcPr marL="45720" marR="45720" marT="9144" marB="9144" anchor="ctr">
                    <a:solidFill>
                      <a:srgbClr val="FE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B91C1C"/>
                          </a:solidFill>
                          <a:latin typeface="微软雅黑"/>
                        </a:rPr>
                        <a:t>9/30 燃热收官</a:t>
                      </a:r>
                    </a:p>
                  </a:txBody>
                  <a:tcPr marL="45720" marR="45720" marT="9144" marB="9144" anchor="ctr"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B91C1C"/>
                          </a:solidFill>
                          <a:latin typeface="微软雅黑"/>
                        </a:rPr>
                        <a:t>320 台</a:t>
                      </a:r>
                    </a:p>
                  </a:txBody>
                  <a:tcPr marL="45720" marR="45720" marT="9144" marB="9144" anchor="ctr"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B91C1C"/>
                          </a:solidFill>
                          <a:latin typeface="微软雅黑"/>
                        </a:rPr>
                        <a:t>113 台</a:t>
                      </a:r>
                    </a:p>
                  </a:txBody>
                  <a:tcPr marL="45720" marR="45720" marT="9144" marB="9144" anchor="ctr"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B91C1C"/>
                          </a:solidFill>
                          <a:latin typeface="微软雅黑"/>
                        </a:rPr>
                        <a:t>35.3%</a:t>
                      </a:r>
                    </a:p>
                  </a:txBody>
                  <a:tcPr marL="45720" marR="45720" marT="9144" marB="9144" anchor="ctr"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B91C1C"/>
                          </a:solidFill>
                          <a:latin typeface="微软雅黑"/>
                        </a:rPr>
                        <a:t>-207 台</a:t>
                      </a:r>
                    </a:p>
                  </a:txBody>
                  <a:tcPr marL="45720" marR="45720" marT="9144" marB="9144" anchor="ctr">
                    <a:solidFill>
                      <a:srgbClr val="FEF2F2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3291840"/>
            <a:ext cx="11274552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1E293B"/>
                </a:solidFill>
                <a:latin typeface="微软雅黑"/>
              </a:rPr>
              <a:t>按二阶段日均（燃热15.7台 / 18L6.3台）线性外推：</a:t>
            </a:r>
          </a:p>
          <a:p>
            <a:pPr algn="l">
              <a:lnSpc>
                <a:spcPct val="150000"/>
              </a:lnSpc>
            </a:pPr>
            <a:r>
              <a:rPr sz="1400" b="0">
                <a:solidFill>
                  <a:srgbClr val="1E293B"/>
                </a:solidFill>
                <a:latin typeface="微软雅黑"/>
              </a:rPr>
              <a:t>· 9/30 燃热可再增约 267 台（17天×15.7），累计约 380 台 → 可完成 320 台目标</a:t>
            </a:r>
          </a:p>
          <a:p>
            <a:pPr algn="l">
              <a:lnSpc>
                <a:spcPct val="150000"/>
              </a:lnSpc>
            </a:pPr>
            <a:r>
              <a:rPr sz="1400" b="0">
                <a:solidFill>
                  <a:srgbClr val="1E293B"/>
                </a:solidFill>
                <a:latin typeface="微软雅黑"/>
              </a:rPr>
              <a:t>· 9/30 18L可再增约 107 台（17天×6.3），累计约 142 台 → 可完成 100 台目标</a:t>
            </a:r>
          </a:p>
          <a:p>
            <a:pPr algn="l">
              <a:lnSpc>
                <a:spcPct val="150000"/>
              </a:lnSpc>
            </a:pPr>
            <a:r>
              <a:rPr sz="1400" b="0">
                <a:solidFill>
                  <a:srgbClr val="1E293B"/>
                </a:solidFill>
                <a:latin typeface="微软雅黑"/>
              </a:rPr>
              <a:t>前提：二阶段日均要稳住。当前最大风险是门店覆盖还不够广——18L集中在少数门店（欧洲城香江/华美居/万众城），</a:t>
            </a:r>
          </a:p>
          <a:p>
            <a:pPr algn="l">
              <a:lnSpc>
                <a:spcPct val="150000"/>
              </a:lnSpc>
            </a:pPr>
            <a:r>
              <a:rPr sz="1400" b="0">
                <a:solidFill>
                  <a:srgbClr val="1E293B"/>
                </a:solidFill>
                <a:latin typeface="微软雅黑"/>
              </a:rPr>
              <a:t>建议把这三家的打法复制到苏宁、京东等空白门店，先解决「0台门店」的问题。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