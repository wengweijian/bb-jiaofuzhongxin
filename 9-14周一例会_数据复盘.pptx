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7F101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DE68A"/>
                </a:solidFill>
                <a:latin typeface="微软雅黑"/>
              </a:rPr>
              <a:t>深圳老板电器 · 18L燃热样板打造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3327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000" b="1">
                <a:solidFill>
                  <a:srgbClr val="FFFFFF"/>
                </a:solidFill>
                <a:latin typeface="微软雅黑"/>
              </a:rPr>
              <a:t>18L燃热 数据复盘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46120"/>
            <a:ext cx="10332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0">
                <a:solidFill>
                  <a:srgbClr val="FECACA"/>
                </a:solidFill>
                <a:latin typeface="微软雅黑"/>
              </a:rPr>
              <a:t>总阶段（9/3-9/13） ＆ 二阶段（9/11-9/13）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4069080"/>
            <a:ext cx="2926080" cy="54864"/>
          </a:xfrm>
          <a:prstGeom prst="rect">
            <a:avLst/>
          </a:prstGeom>
          <a:solidFill>
            <a:srgbClr val="FBBF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43484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FDE68A"/>
                </a:solidFill>
                <a:latin typeface="微软雅黑"/>
              </a:rPr>
              <a:t>周一例会专用 ｜ 2026-09-14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943600"/>
            <a:ext cx="10332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FECACA"/>
                </a:solidFill>
                <a:latin typeface="微软雅黑"/>
              </a:rPr>
              <a:t>数据源：《01数据达成表》《深圳金九银十积分表》（9/13回传）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一、总阶段数据（9/3-9/13 · 11天）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全阶段累计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4551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401"/>
                <a:gridCol w="2931383"/>
                <a:gridCol w="586276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数值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燃热销量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113 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日均 10.3 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18L及以上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35 台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18L占比 31.0%（首破30%）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单日最高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9/13 燃热24台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同日 18L 11台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每日晨读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667 人次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达成率 63.1%（在岗1057人天）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客户体验18L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376 人次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达成率 35.6%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新增客户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419 户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达成率 39.6%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晒单/落地/上门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461单 / 6次 / 35次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加分项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必做3项整体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46.1%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二、二阶段数据（9/11-9/13 · 3天）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开战3天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43000"/>
          <a:ext cx="11274551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401"/>
                <a:gridCol w="2931383"/>
                <a:gridCol w="5862767"/>
              </a:tblGrid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数值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说明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燃热销量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47 台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日均 15.7 台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18L及以上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19 台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18L占比 40.4%（日均6.3台）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9/13单日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燃热24 / 18L11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双双创新高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每日晨读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243 人次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达成率 83.5%（在岗291人天）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客户体验18L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188 人次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达成率 64.6%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新增客户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187 户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达成率 64.3%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晒单/落地/上门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177单 / 2次 / 13次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加分项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必做3项整体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70.8%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一阶段36.7%，+34.1pt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5669280"/>
            <a:ext cx="1127455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64748B"/>
                </a:solidFill>
                <a:latin typeface="微软雅黑"/>
              </a:rPr>
              <a:t>渠道执行率（9/13）：KA 89.9% ｜ 家装 87.9% ｜ 专卖店 65.1%（未达标，已触发19:00复盘）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三、两阶段对比（核心结论）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一阶段 vs 二阶段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188720"/>
          <a:ext cx="1127455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80401"/>
                <a:gridCol w="2480401"/>
                <a:gridCol w="2705892"/>
                <a:gridCol w="3607856"/>
              </a:tblGrid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指标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一阶段 9/3-9/10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二阶段 9/11-9/13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微软雅黑"/>
                        </a:rPr>
                        <a:t>变化</a:t>
                      </a:r>
                    </a:p>
                  </a:txBody>
                  <a:tcPr marL="45720" marR="45720" marT="9144" marB="9144" anchor="ctr">
                    <a:solidFill>
                      <a:srgbClr val="B91C1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天数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8天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3天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燃热销量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66 台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47 台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日均 8.3 → 15.7 台（+90%）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18L销量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16 台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19 台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日均 2.0 → 6.3 台（+215%）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18L占比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24.2%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40.4%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+16.2pt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必做3项达成率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36.7%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70.8%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>
                          <a:solidFill>
                            <a:srgbClr val="15803D"/>
                          </a:solidFill>
                          <a:latin typeface="微软雅黑"/>
                        </a:rPr>
                        <a:t>+34.1pt</a:t>
                      </a:r>
                    </a:p>
                  </a:txBody>
                  <a:tcPr marL="45720" marR="45720" marT="9144" marB="9144" anchor="ctr">
                    <a:solidFill>
                      <a:srgbClr val="ECFDF5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350" b="1">
                          <a:solidFill>
                            <a:srgbClr val="1E293B"/>
                          </a:solidFill>
                          <a:latin typeface="微软雅黑"/>
                        </a:rPr>
                        <a:t>单日最高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9/5 燃热24台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9/13 燃热24/18L11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0">
                          <a:solidFill>
                            <a:srgbClr val="1E293B"/>
                          </a:solidFill>
                          <a:latin typeface="微软雅黑"/>
                        </a:rPr>
                        <a:t>二阶段结构更优</a:t>
                      </a:r>
                    </a:p>
                  </a:txBody>
                  <a:tcPr marL="45720" marR="45720" marT="9144" marB="9144" anchor="ctr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572000"/>
            <a:ext cx="11274552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三条主线齐升：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1. 销量——日均翻倍，18L增速更快（+215%）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2. 结构——18L占比24.2% → 40.4%，升数引导打法跑通</a:t>
            </a:r>
          </a:p>
          <a:p>
            <a:pPr algn="l">
              <a:lnSpc>
                <a:spcPct val="135000"/>
              </a:lnSpc>
            </a:pPr>
            <a:r>
              <a:rPr sz="1450" b="0">
                <a:solidFill>
                  <a:srgbClr val="1E293B"/>
                </a:solidFill>
                <a:latin typeface="微软雅黑"/>
              </a:rPr>
              <a:t>3. 动作——必做3项达成率36.7% → 70.8%，执行面明显改善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四、亮点 &amp; 短板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问题清单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55778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5803D"/>
                </a:solidFill>
                <a:latin typeface="微软雅黑"/>
              </a:rPr>
              <a:t>✅ 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557784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9/13单日 燃热24/18L11，全阶段最强单日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18L占比首破30%线（全阶段31.0%，二阶段40.4%）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必做3项达成率 36.7% → 70.8%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KA/家装执行率回升至接近90%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门店：欧洲城香江家居18L 5台领先；南山京东燃热11台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人员：活动落地达标4人（李秋/鄞树凯/吴松青/梁高军）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09728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B91C1C"/>
                </a:solidFill>
                <a:latin typeface="微软雅黑"/>
              </a:rPr>
              <a:t>⚠ 短板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508760"/>
            <a:ext cx="539496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9/13里程碑45台未达，实际35台，缺口10台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专卖店执行率连续垫底（65.1%），卡点在店总层面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活动落地排期仅42.1%，前置项拖后腿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活动落地完成14/66场（21.2%），零执行9人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门店物料布置多为0/N（黄远兵0/8、彭泽新0/7）</a:t>
            </a:r>
          </a:p>
          <a:p>
            <a:pPr algn="l">
              <a:lnSpc>
                <a:spcPct val="140000"/>
              </a:lnSpc>
            </a:pPr>
            <a:r>
              <a:rPr sz="1400" b="0">
                <a:solidFill>
                  <a:srgbClr val="64748B"/>
                </a:solidFill>
                <a:latin typeface="微软雅黑"/>
              </a:rPr>
              <a:t>· 落地有数量无闭环：18场仅1场记录到场/获资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B9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59536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FFFFFF"/>
                </a:solidFill>
                <a:latin typeface="微软雅黑"/>
              </a:rPr>
              <a:t>五、下周动作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235440" y="219456"/>
            <a:ext cx="2560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FDE68A"/>
                </a:solidFill>
                <a:latin typeface="微软雅黑"/>
              </a:rPr>
              <a:t>例会落地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88720"/>
            <a:ext cx="11274552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60000"/>
              </a:lnSpc>
            </a:pPr>
            <a:r>
              <a:rPr sz="1600" b="0">
                <a:solidFill>
                  <a:srgbClr val="1E293B"/>
                </a:solidFill>
                <a:latin typeface="微软雅黑"/>
              </a:rPr>
              <a:t>1. 专卖店攻坚：店总逐人约谈（唐敏球、吕艳霞、李丹、吴松青、张优鑫），19:00复盘升级为「店总清单制」次日验收。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1E293B"/>
                </a:solidFill>
                <a:latin typeface="微软雅黑"/>
              </a:rPr>
              <a:t>2. 活动落地破零：零执行9人本周必须完成1场，回传「照片＋到场数」。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1E293B"/>
                </a:solidFill>
                <a:latin typeface="微软雅黑"/>
              </a:rPr>
              <a:t>3. 前置补齐：未提交排期的11人24小时内补齐，渠道负责人签字。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1E293B"/>
                </a:solidFill>
                <a:latin typeface="微软雅黑"/>
              </a:rPr>
              <a:t>4. 动作量化：每场落地填「到场／获资／燃热签单／18L台数」，无量化不计积分。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1E293B"/>
                </a:solidFill>
                <a:latin typeface="微软雅黑"/>
              </a:rPr>
              <a:t>5. 双检查机制：体验18L＋新增客户设午/晚双检查，18:00未完成组长提醒。</a:t>
            </a:r>
          </a:p>
          <a:p>
            <a:pPr algn="l">
              <a:lnSpc>
                <a:spcPct val="160000"/>
              </a:lnSpc>
            </a:pPr>
            <a:r>
              <a:rPr sz="1600" b="0">
                <a:solidFill>
                  <a:srgbClr val="1E293B"/>
                </a:solidFill>
                <a:latin typeface="微软雅黑"/>
              </a:rPr>
              <a:t>6. 标杆复制：李秋、鄞树凯、吴松青、梁高军的落地打法做成模板，周三渠道会分享。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