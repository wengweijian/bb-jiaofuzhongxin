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7F10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32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FDE68A"/>
                </a:solidFill>
                <a:latin typeface="微软雅黑"/>
              </a:rPr>
              <a:t>深圳老板电器 · 18L燃热样板打造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103327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000" b="1">
                <a:solidFill>
                  <a:srgbClr val="FFFFFF"/>
                </a:solidFill>
                <a:latin typeface="微软雅黑"/>
              </a:rPr>
              <a:t>渠道核心策略进度复盘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46120"/>
            <a:ext cx="10332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0">
                <a:solidFill>
                  <a:srgbClr val="FECACA"/>
                </a:solidFill>
                <a:latin typeface="微软雅黑"/>
              </a:rPr>
              <a:t>四大关键事项 · 活动落地达成率 · 落地实录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4069080"/>
            <a:ext cx="2926080" cy="54864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43484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FDE68A"/>
                </a:solidFill>
                <a:latin typeface="微软雅黑"/>
              </a:rPr>
              <a:t>周一例会专用 ｜ 2026-09-14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943600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FECACA"/>
                </a:solidFill>
                <a:latin typeface="微软雅黑"/>
              </a:rPr>
              <a:t>数据源：《渠道核心策略进度表》（9/13回传）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5953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FFFFFF"/>
                </a:solidFill>
                <a:latin typeface="微软雅黑"/>
              </a:rPr>
              <a:t>一、四大关键事项完成度（19位业务/店总）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219456"/>
            <a:ext cx="25603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0">
                <a:solidFill>
                  <a:srgbClr val="FDE68A"/>
                </a:solidFill>
                <a:latin typeface="微软雅黑"/>
              </a:rPr>
              <a:t>节点 9/4 · 9/7 · 9/10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234440"/>
          <a:ext cx="1127455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56874"/>
                <a:gridCol w="1803928"/>
                <a:gridCol w="2254910"/>
                <a:gridCol w="1803928"/>
                <a:gridCol w="2254910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关键事项</a:t>
                      </a:r>
                    </a:p>
                  </a:txBody>
                  <a:tcPr marL="45720" marR="45720" marT="9144" marB="9144" anchor="ctr"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点检节点</a:t>
                      </a:r>
                    </a:p>
                  </a:txBody>
                  <a:tcPr marL="45720" marR="45720" marT="9144" marB="9144" anchor="ctr"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完成/应完成</a:t>
                      </a:r>
                    </a:p>
                  </a:txBody>
                  <a:tcPr marL="45720" marR="45720" marT="9144" marB="9144" anchor="ctr"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完成率</a:t>
                      </a:r>
                    </a:p>
                  </a:txBody>
                  <a:tcPr marL="45720" marR="45720" marT="9144" marB="9144" anchor="ctr"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状态</a:t>
                      </a:r>
                    </a:p>
                  </a:txBody>
                  <a:tcPr marL="45720" marR="45720" marT="9144" marB="9144" anchor="ctr">
                    <a:solidFill>
                      <a:srgbClr val="B91C1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5803D"/>
                          </a:solidFill>
                          <a:latin typeface="微软雅黑"/>
                        </a:rPr>
                        <a:t>渠道二次启动</a:t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5803D"/>
                          </a:solidFill>
                          <a:latin typeface="微软雅黑"/>
                        </a:rPr>
                        <a:t>9/4前</a:t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5803D"/>
                          </a:solidFill>
                          <a:latin typeface="微软雅黑"/>
                        </a:rPr>
                        <a:t>14 / 19</a:t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5803D"/>
                          </a:solidFill>
                          <a:latin typeface="微软雅黑"/>
                        </a:rPr>
                        <a:t>73.7%</a:t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5803D"/>
                          </a:solidFill>
                          <a:latin typeface="微软雅黑"/>
                        </a:rPr>
                        <a:t>基本完成</a:t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B91C1C"/>
                          </a:solidFill>
                          <a:latin typeface="微软雅黑"/>
                        </a:rPr>
                        <a:t>活动落地排期</a:t>
                      </a:r>
                    </a:p>
                  </a:txBody>
                  <a:tcPr marL="45720" marR="45720" marT="9144" marB="9144" anchor="ctr"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B91C1C"/>
                          </a:solidFill>
                          <a:latin typeface="微软雅黑"/>
                        </a:rPr>
                        <a:t>9/7前</a:t>
                      </a:r>
                    </a:p>
                  </a:txBody>
                  <a:tcPr marL="45720" marR="45720" marT="9144" marB="9144" anchor="ctr"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B91C1C"/>
                          </a:solidFill>
                          <a:latin typeface="微软雅黑"/>
                        </a:rPr>
                        <a:t>8 / 19</a:t>
                      </a:r>
                    </a:p>
                  </a:txBody>
                  <a:tcPr marL="45720" marR="45720" marT="9144" marB="9144" anchor="ctr"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B91C1C"/>
                          </a:solidFill>
                          <a:latin typeface="微软雅黑"/>
                        </a:rPr>
                        <a:t>42.1%</a:t>
                      </a:r>
                    </a:p>
                  </a:txBody>
                  <a:tcPr marL="45720" marR="45720" marT="9144" marB="9144" anchor="ctr"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B91C1C"/>
                          </a:solidFill>
                          <a:latin typeface="微软雅黑"/>
                        </a:rPr>
                        <a:t>⚠ 最薄弱</a:t>
                      </a:r>
                    </a:p>
                  </a:txBody>
                  <a:tcPr marL="45720" marR="45720" marT="9144" marB="9144" anchor="ctr">
                    <a:solidFill>
                      <a:srgbClr val="FE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B91C1C"/>
                          </a:solidFill>
                          <a:latin typeface="微软雅黑"/>
                        </a:rPr>
                        <a:t>门店物料布置</a:t>
                      </a:r>
                    </a:p>
                  </a:txBody>
                  <a:tcPr marL="45720" marR="45720" marT="9144" marB="9144" anchor="ctr"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B91C1C"/>
                          </a:solidFill>
                          <a:latin typeface="微软雅黑"/>
                        </a:rPr>
                        <a:t>9/10前</a:t>
                      </a:r>
                    </a:p>
                  </a:txBody>
                  <a:tcPr marL="45720" marR="45720" marT="9144" marB="9144" anchor="ctr"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B91C1C"/>
                          </a:solidFill>
                          <a:latin typeface="微软雅黑"/>
                        </a:rPr>
                        <a:t>6 / 19 达标</a:t>
                      </a:r>
                    </a:p>
                  </a:txBody>
                  <a:tcPr marL="45720" marR="45720" marT="9144" marB="9144" anchor="ctr"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B91C1C"/>
                          </a:solidFill>
                          <a:latin typeface="微软雅黑"/>
                        </a:rPr>
                        <a:t>31.6%</a:t>
                      </a:r>
                    </a:p>
                  </a:txBody>
                  <a:tcPr marL="45720" marR="45720" marT="9144" marB="9144" anchor="ctr"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B91C1C"/>
                          </a:solidFill>
                          <a:latin typeface="微软雅黑"/>
                        </a:rPr>
                        <a:t>⚠ 待核实</a:t>
                      </a:r>
                    </a:p>
                  </a:txBody>
                  <a:tcPr marL="45720" marR="45720" marT="9144" marB="9144" anchor="ctr">
                    <a:solidFill>
                      <a:srgbClr val="FE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E293B"/>
                          </a:solidFill>
                          <a:latin typeface="微软雅黑"/>
                        </a:rPr>
                        <a:t>活动落地/沙龙/主推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每周/每阶段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9 / 19 达标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47.4%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进行中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4206240"/>
            <a:ext cx="11274552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64748B"/>
                </a:solidFill>
                <a:latin typeface="微软雅黑"/>
              </a:rPr>
              <a:t>· 落地动作已发生 18 场（9/4-9/13）：设计师下午茶、异业联盟、18L培训宣贯、早餐会主推宣讲、小区品鉴会。</a:t>
            </a:r>
          </a:p>
          <a:p>
            <a:pPr algn="l">
              <a:lnSpc>
                <a:spcPct val="135000"/>
              </a:lnSpc>
            </a:pPr>
            <a:r>
              <a:rPr sz="1500" b="0">
                <a:solidFill>
                  <a:srgbClr val="64748B"/>
                </a:solidFill>
                <a:latin typeface="微软雅黑"/>
              </a:rPr>
              <a:t>· 亮点：向宏洁「大东明鸿发居」异业宣讲 到场30人、获资2户；彭泽新一人已落地4场。</a:t>
            </a:r>
          </a:p>
          <a:p>
            <a:pPr algn="l">
              <a:lnSpc>
                <a:spcPct val="135000"/>
              </a:lnSpc>
            </a:pPr>
            <a:r>
              <a:rPr sz="1500" b="0">
                <a:solidFill>
                  <a:srgbClr val="64748B"/>
                </a:solidFill>
                <a:latin typeface="微软雅黑"/>
              </a:rPr>
              <a:t>· 风险：门店物料布置多为 0/N——需区分「未布置」还是「未回填」。</a:t>
            </a:r>
          </a:p>
          <a:p>
            <a:pPr algn="l">
              <a:lnSpc>
                <a:spcPct val="135000"/>
              </a:lnSpc>
            </a:pPr>
            <a:r>
              <a:rPr sz="1500" b="0">
                <a:solidFill>
                  <a:srgbClr val="64748B"/>
                </a:solidFill>
                <a:latin typeface="微软雅黑"/>
              </a:rPr>
              <a:t>· 提醒：活动落地排期仅42%，是拖住后续所有落地动作的前置项。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5953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FFFFFF"/>
                </a:solidFill>
                <a:latin typeface="微软雅黑"/>
              </a:rPr>
              <a:t>二、按负责人明细（红黑榜）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219456"/>
            <a:ext cx="25603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0">
                <a:solidFill>
                  <a:srgbClr val="FDE68A"/>
                </a:solidFill>
                <a:latin typeface="微软雅黑"/>
              </a:rPr>
              <a:t>19人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5577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5803D"/>
                </a:solidFill>
                <a:latin typeface="微软雅黑"/>
              </a:rPr>
              <a:t>✅ 全项达标（6人）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463040"/>
          <a:ext cx="5577838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50238"/>
                <a:gridCol w="1450238"/>
                <a:gridCol w="1338681"/>
                <a:gridCol w="1338681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姓名</a:t>
                      </a:r>
                    </a:p>
                  </a:txBody>
                  <a:tcPr marL="45720" marR="45720" marT="9144" marB="9144" anchor="ctr"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渠道</a:t>
                      </a:r>
                    </a:p>
                  </a:txBody>
                  <a:tcPr marL="45720" marR="45720" marT="9144" marB="9144" anchor="ctr"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门店物料</a:t>
                      </a:r>
                    </a:p>
                  </a:txBody>
                  <a:tcPr marL="45720" marR="45720" marT="9144" marB="9144" anchor="ctr"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活动落地</a:t>
                      </a:r>
                    </a:p>
                  </a:txBody>
                  <a:tcPr marL="45720" marR="45720" marT="9144" marB="9144" anchor="ctr">
                    <a:solidFill>
                      <a:srgbClr val="B91C1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E293B"/>
                          </a:solidFill>
                          <a:latin typeface="微软雅黑"/>
                        </a:rPr>
                        <a:t>石欣欣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E293B"/>
                          </a:solidFill>
                          <a:latin typeface="微软雅黑"/>
                        </a:rPr>
                        <a:t>经销商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E293B"/>
                          </a:solidFill>
                          <a:latin typeface="微软雅黑"/>
                        </a:rPr>
                        <a:t>10/10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E293B"/>
                          </a:solidFill>
                          <a:latin typeface="微软雅黑"/>
                        </a:rPr>
                        <a:t>1/1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E293B"/>
                          </a:solidFill>
                          <a:latin typeface="微软雅黑"/>
                        </a:rPr>
                        <a:t>向宏洁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E293B"/>
                          </a:solidFill>
                          <a:latin typeface="微软雅黑"/>
                        </a:rPr>
                        <a:t>经销商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E293B"/>
                          </a:solidFill>
                          <a:latin typeface="微软雅黑"/>
                        </a:rPr>
                        <a:t>6/6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E293B"/>
                          </a:solidFill>
                          <a:latin typeface="微软雅黑"/>
                        </a:rPr>
                        <a:t>1/1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E293B"/>
                          </a:solidFill>
                          <a:latin typeface="微软雅黑"/>
                        </a:rPr>
                        <a:t>梁高军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E293B"/>
                          </a:solidFill>
                          <a:latin typeface="微软雅黑"/>
                        </a:rPr>
                        <a:t>家装部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E293B"/>
                          </a:solidFill>
                          <a:latin typeface="微软雅黑"/>
                        </a:rPr>
                        <a:t>5/5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E293B"/>
                          </a:solidFill>
                          <a:latin typeface="微软雅黑"/>
                        </a:rPr>
                        <a:t>2/2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E293B"/>
                          </a:solidFill>
                          <a:latin typeface="微软雅黑"/>
                        </a:rPr>
                        <a:t>张优鑫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E293B"/>
                          </a:solidFill>
                          <a:latin typeface="微软雅黑"/>
                        </a:rPr>
                        <a:t>家装部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E293B"/>
                          </a:solidFill>
                          <a:latin typeface="微软雅黑"/>
                        </a:rPr>
                        <a:t>2/2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E293B"/>
                          </a:solidFill>
                          <a:latin typeface="微软雅黑"/>
                        </a:rPr>
                        <a:t>1/2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E293B"/>
                          </a:solidFill>
                          <a:latin typeface="微软雅黑"/>
                        </a:rPr>
                        <a:t>李玮桢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E293B"/>
                          </a:solidFill>
                          <a:latin typeface="微软雅黑"/>
                        </a:rPr>
                        <a:t>家装部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E293B"/>
                          </a:solidFill>
                          <a:latin typeface="微软雅黑"/>
                        </a:rPr>
                        <a:t>2/2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E293B"/>
                          </a:solidFill>
                          <a:latin typeface="微软雅黑"/>
                        </a:rPr>
                        <a:t>1/1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E293B"/>
                          </a:solidFill>
                          <a:latin typeface="微软雅黑"/>
                        </a:rPr>
                        <a:t>余维斌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E293B"/>
                          </a:solidFill>
                          <a:latin typeface="微软雅黑"/>
                        </a:rPr>
                        <a:t>专卖店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E293B"/>
                          </a:solidFill>
                          <a:latin typeface="微软雅黑"/>
                        </a:rPr>
                        <a:t>1/1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E293B"/>
                          </a:solidFill>
                          <a:latin typeface="微软雅黑"/>
                        </a:rPr>
                        <a:t>1/1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4206240"/>
            <a:ext cx="55778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64748B"/>
                </a:solidFill>
                <a:latin typeface="微软雅黑"/>
              </a:rPr>
              <a:t>门店物料布置＝已完成/目标；活动落地含异业/客户活动、沙龙、主推。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051560"/>
            <a:ext cx="5394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微软雅黑"/>
              </a:rPr>
              <a:t>⚠ 需重点跟进（7人）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309360" y="1463040"/>
          <a:ext cx="5422391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2926"/>
                <a:gridCol w="2711196"/>
                <a:gridCol w="1518269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姓名</a:t>
                      </a:r>
                    </a:p>
                  </a:txBody>
                  <a:tcPr marL="45720" marR="45720" marT="9144" marB="9144" anchor="ctr"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问题</a:t>
                      </a:r>
                    </a:p>
                  </a:txBody>
                  <a:tcPr marL="45720" marR="45720" marT="9144" marB="9144" anchor="ctr"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当前</a:t>
                      </a:r>
                    </a:p>
                  </a:txBody>
                  <a:tcPr marL="45720" marR="45720" marT="9144" marB="9144" anchor="ctr">
                    <a:solidFill>
                      <a:srgbClr val="B91C1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B91C1C"/>
                          </a:solidFill>
                          <a:latin typeface="微软雅黑"/>
                        </a:rPr>
                        <a:t>杨坤泉</a:t>
                      </a:r>
                    </a:p>
                  </a:txBody>
                  <a:tcPr marL="45720" marR="45720" marT="9144" marB="9144" anchor="ctr"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B91C1C"/>
                          </a:solidFill>
                          <a:latin typeface="微软雅黑"/>
                        </a:rPr>
                        <a:t>三项全空</a:t>
                      </a:r>
                    </a:p>
                  </a:txBody>
                  <a:tcPr marL="45720" marR="45720" marT="9144" marB="9144" anchor="ctr"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B91C1C"/>
                          </a:solidFill>
                          <a:latin typeface="微软雅黑"/>
                        </a:rPr>
                        <a:t>/</a:t>
                      </a:r>
                    </a:p>
                  </a:txBody>
                  <a:tcPr marL="45720" marR="45720" marT="9144" marB="9144" anchor="ctr">
                    <a:solidFill>
                      <a:srgbClr val="FE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E293B"/>
                          </a:solidFill>
                          <a:latin typeface="微软雅黑"/>
                        </a:rPr>
                        <a:t>吕艳霞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/>
                        </a:rPr>
                        <a:t>二次启动请假·排期/物料0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/>
                        </a:rPr>
                        <a:t>0/1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E293B"/>
                          </a:solidFill>
                          <a:latin typeface="微软雅黑"/>
                        </a:rPr>
                        <a:t>唐敏球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/>
                        </a:rPr>
                        <a:t>排期/物料/落地均为0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/>
                        </a:rPr>
                        <a:t>0/1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E293B"/>
                          </a:solidFill>
                          <a:latin typeface="微软雅黑"/>
                        </a:rPr>
                        <a:t>冯志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/>
                        </a:rPr>
                        <a:t>排期/物料/落地均为0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/>
                        </a:rPr>
                        <a:t>0/1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E293B"/>
                          </a:solidFill>
                          <a:latin typeface="微软雅黑"/>
                        </a:rPr>
                        <a:t>吴松青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/>
                        </a:rPr>
                        <a:t>排期/物料为0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/>
                        </a:rPr>
                        <a:t>0/1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E293B"/>
                          </a:solidFill>
                          <a:latin typeface="微软雅黑"/>
                        </a:rPr>
                        <a:t>李秋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/>
                        </a:rPr>
                        <a:t>排期/物料为0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/>
                        </a:rPr>
                        <a:t>0/1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E293B"/>
                          </a:solidFill>
                          <a:latin typeface="微软雅黑"/>
                        </a:rPr>
                        <a:t>黄远兵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/>
                        </a:rPr>
                        <a:t>物料0/8·排期未完成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/>
                        </a:rPr>
                        <a:t>0/8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5953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FFFFFF"/>
                </a:solidFill>
                <a:latin typeface="微软雅黑"/>
              </a:rPr>
              <a:t>三、活动落地达成率（各管干）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219456"/>
            <a:ext cx="25603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0">
                <a:solidFill>
                  <a:srgbClr val="FDE68A"/>
                </a:solidFill>
                <a:latin typeface="微软雅黑"/>
              </a:rPr>
              <a:t>完成 ÷ 目标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5577838" cy="4224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8681"/>
                <a:gridCol w="1338681"/>
                <a:gridCol w="780897"/>
                <a:gridCol w="1004011"/>
                <a:gridCol w="1115568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姓名</a:t>
                      </a:r>
                    </a:p>
                  </a:txBody>
                  <a:tcPr marL="45720" marR="45720" marT="9144" marB="9144" anchor="ctr"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渠道</a:t>
                      </a:r>
                    </a:p>
                  </a:txBody>
                  <a:tcPr marL="45720" marR="45720" marT="9144" marB="9144" anchor="ctr"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目标</a:t>
                      </a:r>
                    </a:p>
                  </a:txBody>
                  <a:tcPr marL="45720" marR="45720" marT="9144" marB="9144" anchor="ctr"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已完成</a:t>
                      </a:r>
                    </a:p>
                  </a:txBody>
                  <a:tcPr marL="45720" marR="45720" marT="9144" marB="9144" anchor="ctr"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达成率</a:t>
                      </a:r>
                    </a:p>
                  </a:txBody>
                  <a:tcPr marL="45720" marR="45720" marT="9144" marB="9144" anchor="ctr">
                    <a:solidFill>
                      <a:srgbClr val="B91C1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5803D"/>
                          </a:solidFill>
                          <a:latin typeface="微软雅黑"/>
                        </a:rPr>
                        <a:t>梁高军</a:t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15803D"/>
                          </a:solidFill>
                          <a:latin typeface="微软雅黑"/>
                        </a:rPr>
                        <a:t>家装部</a:t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15803D"/>
                          </a:solidFill>
                          <a:latin typeface="微软雅黑"/>
                        </a:rPr>
                        <a:t>2</a:t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15803D"/>
                          </a:solidFill>
                          <a:latin typeface="微软雅黑"/>
                        </a:rPr>
                        <a:t>2</a:t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15803D"/>
                          </a:solidFill>
                          <a:latin typeface="微软雅黑"/>
                        </a:rPr>
                        <a:t>100%</a:t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5803D"/>
                          </a:solidFill>
                          <a:latin typeface="微软雅黑"/>
                        </a:rPr>
                        <a:t>李玮桢</a:t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15803D"/>
                          </a:solidFill>
                          <a:latin typeface="微软雅黑"/>
                        </a:rPr>
                        <a:t>家装部</a:t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15803D"/>
                          </a:solidFill>
                          <a:latin typeface="微软雅黑"/>
                        </a:rPr>
                        <a:t>1</a:t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15803D"/>
                          </a:solidFill>
                          <a:latin typeface="微软雅黑"/>
                        </a:rPr>
                        <a:t>1</a:t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15803D"/>
                          </a:solidFill>
                          <a:latin typeface="微软雅黑"/>
                        </a:rPr>
                        <a:t>100%</a:t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5803D"/>
                          </a:solidFill>
                          <a:latin typeface="微软雅黑"/>
                        </a:rPr>
                        <a:t>向宏洁</a:t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15803D"/>
                          </a:solidFill>
                          <a:latin typeface="微软雅黑"/>
                        </a:rPr>
                        <a:t>经销商</a:t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15803D"/>
                          </a:solidFill>
                          <a:latin typeface="微软雅黑"/>
                        </a:rPr>
                        <a:t>1</a:t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15803D"/>
                          </a:solidFill>
                          <a:latin typeface="微软雅黑"/>
                        </a:rPr>
                        <a:t>1</a:t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15803D"/>
                          </a:solidFill>
                          <a:latin typeface="微软雅黑"/>
                        </a:rPr>
                        <a:t>100%</a:t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5803D"/>
                          </a:solidFill>
                          <a:latin typeface="微软雅黑"/>
                        </a:rPr>
                        <a:t>石欣欣</a:t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15803D"/>
                          </a:solidFill>
                          <a:latin typeface="微软雅黑"/>
                        </a:rPr>
                        <a:t>经销商</a:t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15803D"/>
                          </a:solidFill>
                          <a:latin typeface="微软雅黑"/>
                        </a:rPr>
                        <a:t>1</a:t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15803D"/>
                          </a:solidFill>
                          <a:latin typeface="微软雅黑"/>
                        </a:rPr>
                        <a:t>1</a:t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15803D"/>
                          </a:solidFill>
                          <a:latin typeface="微软雅黑"/>
                        </a:rPr>
                        <a:t>100%</a:t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5803D"/>
                          </a:solidFill>
                          <a:latin typeface="微软雅黑"/>
                        </a:rPr>
                        <a:t>余维斌</a:t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15803D"/>
                          </a:solidFill>
                          <a:latin typeface="微软雅黑"/>
                        </a:rPr>
                        <a:t>专卖店</a:t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15803D"/>
                          </a:solidFill>
                          <a:latin typeface="微软雅黑"/>
                        </a:rPr>
                        <a:t>1</a:t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15803D"/>
                          </a:solidFill>
                          <a:latin typeface="微软雅黑"/>
                        </a:rPr>
                        <a:t>1</a:t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15803D"/>
                          </a:solidFill>
                          <a:latin typeface="微软雅黑"/>
                        </a:rPr>
                        <a:t>100%</a:t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5803D"/>
                          </a:solidFill>
                          <a:latin typeface="微软雅黑"/>
                        </a:rPr>
                        <a:t>鄞树凯</a:t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15803D"/>
                          </a:solidFill>
                          <a:latin typeface="微软雅黑"/>
                        </a:rPr>
                        <a:t>专卖店</a:t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15803D"/>
                          </a:solidFill>
                          <a:latin typeface="微软雅黑"/>
                        </a:rPr>
                        <a:t>1</a:t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15803D"/>
                          </a:solidFill>
                          <a:latin typeface="微软雅黑"/>
                        </a:rPr>
                        <a:t>1</a:t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15803D"/>
                          </a:solidFill>
                          <a:latin typeface="微软雅黑"/>
                        </a:rPr>
                        <a:t>100%</a:t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5803D"/>
                          </a:solidFill>
                          <a:latin typeface="微软雅黑"/>
                        </a:rPr>
                        <a:t>吴松青</a:t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15803D"/>
                          </a:solidFill>
                          <a:latin typeface="微软雅黑"/>
                        </a:rPr>
                        <a:t>专卖店</a:t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15803D"/>
                          </a:solidFill>
                          <a:latin typeface="微软雅黑"/>
                        </a:rPr>
                        <a:t>1</a:t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15803D"/>
                          </a:solidFill>
                          <a:latin typeface="微软雅黑"/>
                        </a:rPr>
                        <a:t>1</a:t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15803D"/>
                          </a:solidFill>
                          <a:latin typeface="微软雅黑"/>
                        </a:rPr>
                        <a:t>100%</a:t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E293B"/>
                          </a:solidFill>
                          <a:latin typeface="微软雅黑"/>
                        </a:rPr>
                        <a:t>张优鑫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E293B"/>
                          </a:solidFill>
                          <a:latin typeface="微软雅黑"/>
                        </a:rPr>
                        <a:t>家装部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E293B"/>
                          </a:solidFill>
                          <a:latin typeface="微软雅黑"/>
                        </a:rPr>
                        <a:t>2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E293B"/>
                          </a:solidFill>
                          <a:latin typeface="微软雅黑"/>
                        </a:rPr>
                        <a:t>1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E293B"/>
                          </a:solidFill>
                          <a:latin typeface="微软雅黑"/>
                        </a:rPr>
                        <a:t>50%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5803D"/>
                          </a:solidFill>
                          <a:latin typeface="微软雅黑"/>
                        </a:rPr>
                        <a:t>李秋</a:t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15803D"/>
                          </a:solidFill>
                          <a:latin typeface="微软雅黑"/>
                        </a:rPr>
                        <a:t>专卖店</a:t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15803D"/>
                          </a:solidFill>
                          <a:latin typeface="微软雅黑"/>
                        </a:rPr>
                        <a:t>1</a:t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15803D"/>
                          </a:solidFill>
                          <a:latin typeface="微软雅黑"/>
                        </a:rPr>
                        <a:t>2</a:t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15803D"/>
                          </a:solidFill>
                          <a:latin typeface="微软雅黑"/>
                        </a:rPr>
                        <a:t>200%</a:t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5803D"/>
                          </a:solidFill>
                          <a:latin typeface="微软雅黑"/>
                        </a:rPr>
                        <a:t>彭泽新</a:t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15803D"/>
                          </a:solidFill>
                          <a:latin typeface="微软雅黑"/>
                        </a:rPr>
                        <a:t>KA·苏宁</a:t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15803D"/>
                          </a:solidFill>
                          <a:latin typeface="微软雅黑"/>
                        </a:rPr>
                        <a:t>2</a:t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15803D"/>
                          </a:solidFill>
                          <a:latin typeface="微软雅黑"/>
                        </a:rPr>
                        <a:t>3</a:t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15803D"/>
                          </a:solidFill>
                          <a:latin typeface="微软雅黑"/>
                        </a:rPr>
                        <a:t>150%</a:t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309360" y="1188720"/>
          <a:ext cx="5422389" cy="4224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1374"/>
                <a:gridCol w="1518269"/>
                <a:gridCol w="759134"/>
                <a:gridCol w="867582"/>
                <a:gridCol w="976030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姓名</a:t>
                      </a:r>
                    </a:p>
                  </a:txBody>
                  <a:tcPr marL="45720" marR="45720" marT="9144" marB="9144" anchor="ctr"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渠道</a:t>
                      </a:r>
                    </a:p>
                  </a:txBody>
                  <a:tcPr marL="45720" marR="45720" marT="9144" marB="9144" anchor="ctr"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目标</a:t>
                      </a:r>
                    </a:p>
                  </a:txBody>
                  <a:tcPr marL="45720" marR="45720" marT="9144" marB="9144" anchor="ctr"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已完成</a:t>
                      </a:r>
                    </a:p>
                  </a:txBody>
                  <a:tcPr marL="45720" marR="45720" marT="9144" marB="9144" anchor="ctr"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达成率</a:t>
                      </a:r>
                    </a:p>
                  </a:txBody>
                  <a:tcPr marL="45720" marR="45720" marT="9144" marB="9144" anchor="ctr">
                    <a:solidFill>
                      <a:srgbClr val="B91C1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B91C1C"/>
                          </a:solidFill>
                          <a:latin typeface="微软雅黑"/>
                        </a:rPr>
                        <a:t>唐敏球</a:t>
                      </a:r>
                    </a:p>
                  </a:txBody>
                  <a:tcPr marL="45720" marR="45720" marT="9144" marB="9144" anchor="ctr"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B91C1C"/>
                          </a:solidFill>
                          <a:latin typeface="微软雅黑"/>
                        </a:rPr>
                        <a:t>专卖店</a:t>
                      </a:r>
                    </a:p>
                  </a:txBody>
                  <a:tcPr marL="45720" marR="45720" marT="9144" marB="9144" anchor="ctr"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B91C1C"/>
                          </a:solidFill>
                          <a:latin typeface="微软雅黑"/>
                        </a:rPr>
                        <a:t>1</a:t>
                      </a:r>
                    </a:p>
                  </a:txBody>
                  <a:tcPr marL="45720" marR="45720" marT="9144" marB="9144" anchor="ctr"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B91C1C"/>
                          </a:solidFill>
                          <a:latin typeface="微软雅黑"/>
                        </a:rPr>
                        <a:t>0</a:t>
                      </a:r>
                    </a:p>
                  </a:txBody>
                  <a:tcPr marL="45720" marR="45720" marT="9144" marB="9144" anchor="ctr"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B91C1C"/>
                          </a:solidFill>
                          <a:latin typeface="微软雅黑"/>
                        </a:rPr>
                        <a:t>0%</a:t>
                      </a:r>
                    </a:p>
                  </a:txBody>
                  <a:tcPr marL="45720" marR="45720" marT="9144" marB="9144" anchor="ctr">
                    <a:solidFill>
                      <a:srgbClr val="FEF2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B91C1C"/>
                          </a:solidFill>
                          <a:latin typeface="微软雅黑"/>
                        </a:rPr>
                        <a:t>康建林</a:t>
                      </a:r>
                    </a:p>
                  </a:txBody>
                  <a:tcPr marL="45720" marR="45720" marT="9144" marB="9144" anchor="ctr"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B91C1C"/>
                          </a:solidFill>
                          <a:latin typeface="微软雅黑"/>
                        </a:rPr>
                        <a:t>专卖店</a:t>
                      </a:r>
                    </a:p>
                  </a:txBody>
                  <a:tcPr marL="45720" marR="45720" marT="9144" marB="9144" anchor="ctr"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B91C1C"/>
                          </a:solidFill>
                          <a:latin typeface="微软雅黑"/>
                        </a:rPr>
                        <a:t>4</a:t>
                      </a:r>
                    </a:p>
                  </a:txBody>
                  <a:tcPr marL="45720" marR="45720" marT="9144" marB="9144" anchor="ctr"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B91C1C"/>
                          </a:solidFill>
                          <a:latin typeface="微软雅黑"/>
                        </a:rPr>
                        <a:t>0</a:t>
                      </a:r>
                    </a:p>
                  </a:txBody>
                  <a:tcPr marL="45720" marR="45720" marT="9144" marB="9144" anchor="ctr"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B91C1C"/>
                          </a:solidFill>
                          <a:latin typeface="微软雅黑"/>
                        </a:rPr>
                        <a:t>0%</a:t>
                      </a:r>
                    </a:p>
                  </a:txBody>
                  <a:tcPr marL="45720" marR="45720" marT="9144" marB="9144" anchor="ctr">
                    <a:solidFill>
                      <a:srgbClr val="FEF2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B91C1C"/>
                          </a:solidFill>
                          <a:latin typeface="微软雅黑"/>
                        </a:rPr>
                        <a:t>吕艳霞</a:t>
                      </a:r>
                    </a:p>
                  </a:txBody>
                  <a:tcPr marL="45720" marR="45720" marT="9144" marB="9144" anchor="ctr"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B91C1C"/>
                          </a:solidFill>
                          <a:latin typeface="微软雅黑"/>
                        </a:rPr>
                        <a:t>专卖店</a:t>
                      </a:r>
                    </a:p>
                  </a:txBody>
                  <a:tcPr marL="45720" marR="45720" marT="9144" marB="9144" anchor="ctr"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B91C1C"/>
                          </a:solidFill>
                          <a:latin typeface="微软雅黑"/>
                        </a:rPr>
                        <a:t>1</a:t>
                      </a:r>
                    </a:p>
                  </a:txBody>
                  <a:tcPr marL="45720" marR="45720" marT="9144" marB="9144" anchor="ctr"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B91C1C"/>
                          </a:solidFill>
                          <a:latin typeface="微软雅黑"/>
                        </a:rPr>
                        <a:t>0</a:t>
                      </a:r>
                    </a:p>
                  </a:txBody>
                  <a:tcPr marL="45720" marR="45720" marT="9144" marB="9144" anchor="ctr"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B91C1C"/>
                          </a:solidFill>
                          <a:latin typeface="微软雅黑"/>
                        </a:rPr>
                        <a:t>0%</a:t>
                      </a:r>
                    </a:p>
                  </a:txBody>
                  <a:tcPr marL="45720" marR="45720" marT="9144" marB="9144" anchor="ctr">
                    <a:solidFill>
                      <a:srgbClr val="FEF2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B91C1C"/>
                          </a:solidFill>
                          <a:latin typeface="微软雅黑"/>
                        </a:rPr>
                        <a:t>冯志</a:t>
                      </a:r>
                    </a:p>
                  </a:txBody>
                  <a:tcPr marL="45720" marR="45720" marT="9144" marB="9144" anchor="ctr"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B91C1C"/>
                          </a:solidFill>
                          <a:latin typeface="微软雅黑"/>
                        </a:rPr>
                        <a:t>专卖店</a:t>
                      </a:r>
                    </a:p>
                  </a:txBody>
                  <a:tcPr marL="45720" marR="45720" marT="9144" marB="9144" anchor="ctr"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B91C1C"/>
                          </a:solidFill>
                          <a:latin typeface="微软雅黑"/>
                        </a:rPr>
                        <a:t>1</a:t>
                      </a:r>
                    </a:p>
                  </a:txBody>
                  <a:tcPr marL="45720" marR="45720" marT="9144" marB="9144" anchor="ctr"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B91C1C"/>
                          </a:solidFill>
                          <a:latin typeface="微软雅黑"/>
                        </a:rPr>
                        <a:t>0</a:t>
                      </a:r>
                    </a:p>
                  </a:txBody>
                  <a:tcPr marL="45720" marR="45720" marT="9144" marB="9144" anchor="ctr"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B91C1C"/>
                          </a:solidFill>
                          <a:latin typeface="微软雅黑"/>
                        </a:rPr>
                        <a:t>0%</a:t>
                      </a:r>
                    </a:p>
                  </a:txBody>
                  <a:tcPr marL="45720" marR="45720" marT="9144" marB="9144" anchor="ctr">
                    <a:solidFill>
                      <a:srgbClr val="FEF2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B91C1C"/>
                          </a:solidFill>
                          <a:latin typeface="微软雅黑"/>
                        </a:rPr>
                        <a:t>李业州</a:t>
                      </a:r>
                    </a:p>
                  </a:txBody>
                  <a:tcPr marL="45720" marR="45720" marT="9144" marB="9144" anchor="ctr"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B91C1C"/>
                          </a:solidFill>
                          <a:latin typeface="微软雅黑"/>
                        </a:rPr>
                        <a:t>家装部</a:t>
                      </a:r>
                    </a:p>
                  </a:txBody>
                  <a:tcPr marL="45720" marR="45720" marT="9144" marB="9144" anchor="ctr"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B91C1C"/>
                          </a:solidFill>
                          <a:latin typeface="微软雅黑"/>
                        </a:rPr>
                        <a:t>3</a:t>
                      </a:r>
                    </a:p>
                  </a:txBody>
                  <a:tcPr marL="45720" marR="45720" marT="9144" marB="9144" anchor="ctr"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B91C1C"/>
                          </a:solidFill>
                          <a:latin typeface="微软雅黑"/>
                        </a:rPr>
                        <a:t>0</a:t>
                      </a:r>
                    </a:p>
                  </a:txBody>
                  <a:tcPr marL="45720" marR="45720" marT="9144" marB="9144" anchor="ctr"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B91C1C"/>
                          </a:solidFill>
                          <a:latin typeface="微软雅黑"/>
                        </a:rPr>
                        <a:t>0%</a:t>
                      </a:r>
                    </a:p>
                  </a:txBody>
                  <a:tcPr marL="45720" marR="45720" marT="9144" marB="9144" anchor="ctr">
                    <a:solidFill>
                      <a:srgbClr val="FEF2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B91C1C"/>
                          </a:solidFill>
                          <a:latin typeface="微软雅黑"/>
                        </a:rPr>
                        <a:t>卢家宝</a:t>
                      </a:r>
                    </a:p>
                  </a:txBody>
                  <a:tcPr marL="45720" marR="45720" marT="9144" marB="9144" anchor="ctr"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B91C1C"/>
                          </a:solidFill>
                          <a:latin typeface="微软雅黑"/>
                        </a:rPr>
                        <a:t>KA·百安居/山姆</a:t>
                      </a:r>
                    </a:p>
                  </a:txBody>
                  <a:tcPr marL="45720" marR="45720" marT="9144" marB="9144" anchor="ctr"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B91C1C"/>
                          </a:solidFill>
                          <a:latin typeface="微软雅黑"/>
                        </a:rPr>
                        <a:t>6</a:t>
                      </a:r>
                    </a:p>
                  </a:txBody>
                  <a:tcPr marL="45720" marR="45720" marT="9144" marB="9144" anchor="ctr"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B91C1C"/>
                          </a:solidFill>
                          <a:latin typeface="微软雅黑"/>
                        </a:rPr>
                        <a:t>0</a:t>
                      </a:r>
                    </a:p>
                  </a:txBody>
                  <a:tcPr marL="45720" marR="45720" marT="9144" marB="9144" anchor="ctr"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B91C1C"/>
                          </a:solidFill>
                          <a:latin typeface="微软雅黑"/>
                        </a:rPr>
                        <a:t>0%</a:t>
                      </a:r>
                    </a:p>
                  </a:txBody>
                  <a:tcPr marL="45720" marR="45720" marT="9144" marB="9144" anchor="ctr">
                    <a:solidFill>
                      <a:srgbClr val="FEF2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E293B"/>
                          </a:solidFill>
                          <a:latin typeface="微软雅黑"/>
                        </a:rPr>
                        <a:t>杨坤泉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E293B"/>
                          </a:solidFill>
                          <a:latin typeface="微软雅黑"/>
                        </a:rPr>
                        <a:t>家装部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E293B"/>
                          </a:solidFill>
                          <a:latin typeface="微软雅黑"/>
                        </a:rPr>
                        <a:t>—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E293B"/>
                          </a:solidFill>
                          <a:latin typeface="微软雅黑"/>
                        </a:rPr>
                        <a:t>—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E293B"/>
                          </a:solidFill>
                          <a:latin typeface="微软雅黑"/>
                        </a:rPr>
                        <a:t>—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E293B"/>
                          </a:solidFill>
                          <a:latin typeface="微软雅黑"/>
                        </a:rPr>
                        <a:t>黄远兵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E293B"/>
                          </a:solidFill>
                          <a:latin typeface="微软雅黑"/>
                        </a:rPr>
                        <a:t>KA·顺电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E293B"/>
                          </a:solidFill>
                          <a:latin typeface="微软雅黑"/>
                        </a:rPr>
                        <a:t>—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E293B"/>
                          </a:solidFill>
                          <a:latin typeface="微软雅黑"/>
                        </a:rPr>
                        <a:t>—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E293B"/>
                          </a:solidFill>
                          <a:latin typeface="微软雅黑"/>
                        </a:rPr>
                        <a:t>—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E293B"/>
                          </a:solidFill>
                          <a:latin typeface="微软雅黑"/>
                        </a:rPr>
                        <a:t>谭辉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E293B"/>
                          </a:solidFill>
                          <a:latin typeface="微软雅黑"/>
                        </a:rPr>
                        <a:t>KA·京东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E293B"/>
                          </a:solidFill>
                          <a:latin typeface="微软雅黑"/>
                        </a:rPr>
                        <a:t>—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E293B"/>
                          </a:solidFill>
                          <a:latin typeface="微软雅黑"/>
                        </a:rPr>
                        <a:t>—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E293B"/>
                          </a:solidFill>
                          <a:latin typeface="微软雅黑"/>
                        </a:rPr>
                        <a:t>—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E293B"/>
                          </a:solidFill>
                          <a:latin typeface="微软雅黑"/>
                        </a:rPr>
                        <a:t/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E293B"/>
                          </a:solidFill>
                          <a:latin typeface="微软雅黑"/>
                        </a:rPr>
                        <a:t/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E293B"/>
                          </a:solidFill>
                          <a:latin typeface="微软雅黑"/>
                        </a:rPr>
                        <a:t/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E293B"/>
                          </a:solidFill>
                          <a:latin typeface="微软雅黑"/>
                        </a:rPr>
                        <a:t/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E293B"/>
                          </a:solidFill>
                          <a:latin typeface="微软雅黑"/>
                        </a:rPr>
                        <a:t/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5486400"/>
            <a:ext cx="1127455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64748B"/>
                </a:solidFill>
                <a:latin typeface="微软雅黑"/>
              </a:rPr>
              <a:t>· 达标 10人（含超额：李秋200%、彭泽新150%）；未启动 6人（唐敏球、康建林、吕艳霞、冯志、李业州、卢家宝）；无目标 3人。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64748B"/>
                </a:solidFill>
                <a:latin typeface="微软雅黑"/>
              </a:rPr>
              <a:t>· 活动落地＝异业活动／客户活动（专卖店·家装）、设计师沙龙/培训（家装）、主推签约＋早餐会（KA）。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5953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FFFFFF"/>
                </a:solidFill>
                <a:latin typeface="微软雅黑"/>
              </a:rPr>
              <a:t>四、已落地动作实录（18场 · 9/4-9/13）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219456"/>
            <a:ext cx="25603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0">
                <a:solidFill>
                  <a:srgbClr val="FDE68A"/>
                </a:solidFill>
                <a:latin typeface="微软雅黑"/>
              </a:rPr>
              <a:t>含到场/获资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5577838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0897"/>
                <a:gridCol w="948232"/>
                <a:gridCol w="1673352"/>
                <a:gridCol w="2175357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日期</a:t>
                      </a:r>
                    </a:p>
                  </a:txBody>
                  <a:tcPr marL="45720" marR="45720" marT="9144" marB="9144" anchor="ctr"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负责人</a:t>
                      </a:r>
                    </a:p>
                  </a:txBody>
                  <a:tcPr marL="45720" marR="45720" marT="9144" marB="9144" anchor="ctr"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门店</a:t>
                      </a:r>
                    </a:p>
                  </a:txBody>
                  <a:tcPr marL="45720" marR="45720" marT="9144" marB="9144" anchor="ctr"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落地形式</a:t>
                      </a:r>
                    </a:p>
                  </a:txBody>
                  <a:tcPr marL="45720" marR="45720" marT="9144" marB="9144" anchor="ctr">
                    <a:solidFill>
                      <a:srgbClr val="B91C1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E293B"/>
                          </a:solidFill>
                          <a:latin typeface="微软雅黑"/>
                        </a:rPr>
                        <a:t>09/04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/>
                        </a:rPr>
                        <a:t>梁高军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/>
                        </a:rPr>
                        <a:t>鼎昇装饰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/>
                        </a:rPr>
                        <a:t>设计师下午茶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E293B"/>
                          </a:solidFill>
                          <a:latin typeface="微软雅黑"/>
                        </a:rPr>
                        <a:t>09/05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/>
                        </a:rPr>
                        <a:t>吕艳霞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/>
                        </a:rPr>
                        <a:t>欧洲城索菲亚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/>
                        </a:rPr>
                        <a:t>小区活动落地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E293B"/>
                          </a:solidFill>
                          <a:latin typeface="微软雅黑"/>
                        </a:rPr>
                        <a:t>09/07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/>
                        </a:rPr>
                        <a:t>鄞树凯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/>
                        </a:rPr>
                        <a:t>龙岗国安居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/>
                        </a:rPr>
                        <a:t>异业落地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5803D"/>
                          </a:solidFill>
                          <a:latin typeface="微软雅黑"/>
                        </a:rPr>
                        <a:t>09/07</a:t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5803D"/>
                          </a:solidFill>
                          <a:latin typeface="微软雅黑"/>
                        </a:rPr>
                        <a:t>李丹</a:t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5803D"/>
                          </a:solidFill>
                          <a:latin typeface="微软雅黑"/>
                        </a:rPr>
                        <a:t>欧洲城香江家居</a:t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5803D"/>
                          </a:solidFill>
                          <a:latin typeface="微软雅黑"/>
                        </a:rPr>
                        <a:t>异业联盟18L燃热</a:t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E293B"/>
                          </a:solidFill>
                          <a:latin typeface="微软雅黑"/>
                        </a:rPr>
                        <a:t>09/07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/>
                        </a:rPr>
                        <a:t>余维斌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/>
                        </a:rPr>
                        <a:t>—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/>
                        </a:rPr>
                        <a:t>设计师下午茶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E293B"/>
                          </a:solidFill>
                          <a:latin typeface="微软雅黑"/>
                        </a:rPr>
                        <a:t>09/08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/>
                        </a:rPr>
                        <a:t>梁高军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/>
                        </a:rPr>
                        <a:t>名雕分部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/>
                        </a:rPr>
                        <a:t>18L培训宣贯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E293B"/>
                          </a:solidFill>
                          <a:latin typeface="微软雅黑"/>
                        </a:rPr>
                        <a:t>09/09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/>
                        </a:rPr>
                        <a:t>张优鑫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/>
                        </a:rPr>
                        <a:t>圣都设计师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/>
                        </a:rPr>
                        <a:t>18L培训宣贯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E293B"/>
                          </a:solidFill>
                          <a:latin typeface="微软雅黑"/>
                        </a:rPr>
                        <a:t>09/09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/>
                        </a:rPr>
                        <a:t>李伟桢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/>
                        </a:rPr>
                        <a:t>佳美域分部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/>
                        </a:rPr>
                        <a:t>18L培训宣贯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E293B"/>
                          </a:solidFill>
                          <a:latin typeface="微软雅黑"/>
                        </a:rPr>
                        <a:t>09/09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/>
                        </a:rPr>
                        <a:t>石欣欣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/>
                        </a:rPr>
                        <a:t>经销商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/>
                        </a:rPr>
                        <a:t>18L培训宣贯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309360" y="1188720"/>
          <a:ext cx="5422389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9134"/>
                <a:gridCol w="921806"/>
                <a:gridCol w="1518269"/>
                <a:gridCol w="2223180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日期</a:t>
                      </a:r>
                    </a:p>
                  </a:txBody>
                  <a:tcPr marL="45720" marR="45720" marT="9144" marB="9144" anchor="ctr"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负责人</a:t>
                      </a:r>
                    </a:p>
                  </a:txBody>
                  <a:tcPr marL="45720" marR="45720" marT="9144" marB="9144" anchor="ctr"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门店</a:t>
                      </a:r>
                    </a:p>
                  </a:txBody>
                  <a:tcPr marL="45720" marR="45720" marT="9144" marB="9144" anchor="ctr"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落地形式</a:t>
                      </a:r>
                    </a:p>
                  </a:txBody>
                  <a:tcPr marL="45720" marR="45720" marT="9144" marB="9144" anchor="ctr">
                    <a:solidFill>
                      <a:srgbClr val="B91C1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E293B"/>
                          </a:solidFill>
                          <a:latin typeface="微软雅黑"/>
                        </a:rPr>
                        <a:t>09/09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/>
                        </a:rPr>
                        <a:t>彭泽鑫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/>
                        </a:rPr>
                        <a:t>苏宁渠道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/>
                        </a:rPr>
                        <a:t>18L培训宣贯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E293B"/>
                          </a:solidFill>
                          <a:latin typeface="微软雅黑"/>
                        </a:rPr>
                        <a:t>09/10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/>
                        </a:rPr>
                        <a:t>李丹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/>
                        </a:rPr>
                        <a:t>欧洲城香江家居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/>
                        </a:rPr>
                        <a:t>异业宣讲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E293B"/>
                          </a:solidFill>
                          <a:latin typeface="微软雅黑"/>
                        </a:rPr>
                        <a:t>09/10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/>
                        </a:rPr>
                        <a:t>吴松青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/>
                        </a:rPr>
                        <a:t>南山国安居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/>
                        </a:rPr>
                        <a:t>异业落地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5803D"/>
                          </a:solidFill>
                          <a:latin typeface="微软雅黑"/>
                        </a:rPr>
                        <a:t>09/11</a:t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5803D"/>
                          </a:solidFill>
                          <a:latin typeface="微软雅黑"/>
                        </a:rPr>
                        <a:t>向宏洁</a:t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5803D"/>
                          </a:solidFill>
                          <a:latin typeface="微软雅黑"/>
                        </a:rPr>
                        <a:t>大东明鸿发居</a:t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5803D"/>
                          </a:solidFill>
                          <a:latin typeface="微软雅黑"/>
                        </a:rPr>
                        <a:t>异业宣讲★到场30·获资2</a:t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E293B"/>
                          </a:solidFill>
                          <a:latin typeface="微软雅黑"/>
                        </a:rPr>
                        <a:t>09/12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/>
                        </a:rPr>
                        <a:t>彭泽新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/>
                        </a:rPr>
                        <a:t>华强苏宁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/>
                        </a:rPr>
                        <a:t>早餐会主推宣讲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E293B"/>
                          </a:solidFill>
                          <a:latin typeface="微软雅黑"/>
                        </a:rPr>
                        <a:t>09/12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/>
                        </a:rPr>
                        <a:t>卢家宝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/>
                        </a:rPr>
                        <a:t>罗湖百安居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/>
                        </a:rPr>
                        <a:t>晨会主推宣讲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E293B"/>
                          </a:solidFill>
                          <a:latin typeface="微软雅黑"/>
                        </a:rPr>
                        <a:t>09/12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/>
                        </a:rPr>
                        <a:t>彭泽新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/>
                        </a:rPr>
                        <a:t>沙井苏宁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/>
                        </a:rPr>
                        <a:t>小区品鉴会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E293B"/>
                          </a:solidFill>
                          <a:latin typeface="微软雅黑"/>
                        </a:rPr>
                        <a:t>09/12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/>
                        </a:rPr>
                        <a:t>吕艳霞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/>
                        </a:rPr>
                        <a:t>维意定制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/>
                        </a:rPr>
                        <a:t>活动落地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E293B"/>
                          </a:solidFill>
                          <a:latin typeface="微软雅黑"/>
                        </a:rPr>
                        <a:t>09/13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/>
                        </a:rPr>
                        <a:t>彭泽新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/>
                        </a:rPr>
                        <a:t>翠竹苏宁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/>
                        </a:rPr>
                        <a:t>早餐会主推宣讲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5212080"/>
            <a:ext cx="1127455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64748B"/>
                </a:solidFill>
                <a:latin typeface="微软雅黑"/>
              </a:rPr>
              <a:t>· 形式多元：培训宣贯5场、异业宣讲/联盟5场、设计师沙龙3场、主推/晨会/早餐会4场、小区落地2场。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64748B"/>
                </a:solidFill>
                <a:latin typeface="微软雅黑"/>
              </a:rPr>
              <a:t>· 家装渠道「18L培训宣贯」集中铺开（名雕/圣都/佳美域/经销商/苏宁），为二阶段蓄客。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5953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FFFFFF"/>
                </a:solidFill>
                <a:latin typeface="微软雅黑"/>
              </a:rPr>
              <a:t>五、问题根因 &amp; 下周动作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219456"/>
            <a:ext cx="25603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0">
                <a:solidFill>
                  <a:srgbClr val="FDE68A"/>
                </a:solidFill>
                <a:latin typeface="微软雅黑"/>
              </a:rPr>
              <a:t>例会落地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27455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B91C1C"/>
                </a:solidFill>
                <a:latin typeface="微软雅黑"/>
              </a:rPr>
              <a:t>问题根因（4条）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81328"/>
            <a:ext cx="11274552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1E293B"/>
                </a:solidFill>
                <a:latin typeface="微软雅黑"/>
              </a:rPr>
              <a:t>1. 前置项没做完——「活动落地排期」仅42%，排期不出，物料布置与落地动作就无从承接。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1E293B"/>
                </a:solidFill>
                <a:latin typeface="微软雅黑"/>
              </a:rPr>
              <a:t>2. 活动落地两极分化——达标的10人（李秋、彭泽新超额），但唐敏球、康建林、吕艳霞、冯志、李业州、卢家宝6人**目标已立、动作零执行**。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1E293B"/>
                </a:solidFill>
                <a:latin typeface="微软雅黑"/>
              </a:rPr>
              <a:t>3. 门店物料布置大面积挂零（黄远兵0/8、彭泽新0/7、卢家宝0/5、康建林0/4）——需区分「未布置」还是「未回填」。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1E293B"/>
                </a:solidFill>
                <a:latin typeface="微软雅黑"/>
              </a:rPr>
              <a:t>4. 落地有数量无闭环——18场动作中仅向宏洁1场记录了到场/获资，其余缺量化。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611880"/>
            <a:ext cx="11274552" cy="27432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3767328"/>
            <a:ext cx="1127455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15803D"/>
                </a:solidFill>
                <a:latin typeface="微软雅黑"/>
              </a:rPr>
              <a:t>下周动作（5条）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51376"/>
            <a:ext cx="11274552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1E293B"/>
                </a:solidFill>
                <a:latin typeface="微软雅黑"/>
              </a:rPr>
              <a:t>1. 排期攻坚：未提交排期的11人周例会后24小时内补齐，渠道负责人签字确认。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1E293B"/>
                </a:solidFill>
                <a:latin typeface="微软雅黑"/>
              </a:rPr>
              <a:t>2. 活动落地零执行6人逐人约谈，明确本周必须完成1场并回传照片+到场数。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1E293B"/>
                </a:solidFill>
                <a:latin typeface="微软雅黑"/>
              </a:rPr>
              <a:t>3. 物料布置当日布置当日回填（照片），店总日清增加「物料布置」勾选项。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1E293B"/>
                </a:solidFill>
                <a:latin typeface="微软雅黑"/>
              </a:rPr>
              <a:t>4. 落地动作必须量化：每场填「到场／获资／燃热签单／18L台数」，无量化不计积分。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1E293B"/>
                </a:solidFill>
                <a:latin typeface="微软雅黑"/>
              </a:rPr>
              <a:t>5. 标杆复制：梁高军、石欣欣、向宏洁、彭泽新的打法做成模板，周三渠道会分享。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